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6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6E"/>
                </a:solidFill>
                <a:latin typeface="Arial"/>
              </a:rPr>
              <a:t>Salida real · 5 entrevistas de ejemplo (escala 1–5)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 por dimensión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Balance/carga</c:v>
                  </c:pt>
                  <c:pt idx="1">
                    <c:v>Reconocimiento</c:v>
                  </c:pt>
                  <c:pt idx="2">
                    <c:v>Comunicación</c:v>
                  </c:pt>
                  <c:pt idx="3">
                    <c:v>Desarrollo</c:v>
                  </c:pt>
                  <c:pt idx="4">
                    <c:v>Seg. psicológica</c:v>
                  </c:pt>
                  <c:pt idx="5">
                    <c:v>Liderazgo</c:v>
                  </c:pt>
                  <c:pt idx="6">
                    <c:v>Pertenencia</c:v>
                  </c:pt>
                  <c:pt idx="7">
                    <c:v>Trabajo en equipo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2.4</c:v>
                </c:pt>
                <c:pt idx="1">
                  <c:v>2.8</c:v>
                </c:pt>
                <c:pt idx="2">
                  <c:v>2.9</c:v>
                </c:pt>
                <c:pt idx="3">
                  <c:v>3</c:v>
                </c:pt>
                <c:pt idx="4">
                  <c:v>3.5</c:v>
                </c:pt>
                <c:pt idx="5">
                  <c:v>3.5</c:v>
                </c:pt>
                <c:pt idx="6">
                  <c:v>4.1</c:v>
                </c:pt>
                <c:pt idx="7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A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DDE7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Saludo. 30 segundos: 'Hoy les propongo cambiar la herramienta con la que las organizaciones escuchan a su gente. Construí un sistema de dos agentes que convierte la encuesta de clima en una conversación anónima, y las conversaciones en métricas confiables.'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Contar el círculo vicioso: miedo → silencio → datos pobres. Pregunta retórica: '¿de qué sirve medir si nadie dice la verdad?' Aclarar que la cita es ilustrativa de los datos de ejemplo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Insistir en la clave: NO se sacrifica comparabilidad. El guion es fijo y vive en el código; el LLM solo cambia la forma de preguntar. Comparables como una encuesta, sinceras como una conversación.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 con la S5 y S6. Recorrer el flujo con el dedo: el orquestador valida y enruta; el Entrevistador conversa con la persona y publica el JSON seudonimizado; el Analista consume TODOS los registros y produce el informe. Frase clave: 'el grafo que ven aquí es literalmente el código: LangGraph declara nodos y aristas'.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decisión más importante: separar CONTROL (código: qué pregunta va, cuándo repreguntar, cuándo terminar) de LENGUAJE (LLM: cómo se dice). Eso responde de antemano '¿y si el LLM se sale del guion?': no puede.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gráfico sale del informe real generado con los datos de ejemplo. Punto fuerte para el panel: los números NO los produce el LLM; cada puntaje conserva la respuesta textual que lo originó, así que el indicador se puede auditar.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Nombrar trade-offs sin que pregunten: es criterio explícito de evaluación. Cerrar con el de anonimato: 'preferí declarar la limitación antes que prometer un anonimato que técnicamente no puedo garantizar en un equipo de 4 personas'.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Este slide responde el criterio de 'manejo de errores'. Cada caso está probado en tests/prueba_humo.py, que corre completo sin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la demo: terminal con fuente grande, entorno activado, .env cargado, informe pre-generado abierto en una pestaña por si algo falla. Responder 4-5 preguntas, no las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30 segundos y transición a la demo. Dejar este slide o el de arquitectura visible durante las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26864" y="960120"/>
            <a:ext cx="822960" cy="822960"/>
          </a:xfrm>
          <a:prstGeom prst="ellipse">
            <a:avLst/>
          </a:prstGeom>
          <a:solidFill>
            <a:srgbClr val="0E4A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0834" y="1174090"/>
            <a:ext cx="395021" cy="39502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78424" y="960120"/>
            <a:ext cx="822960" cy="822960"/>
          </a:xfrm>
          <a:prstGeom prst="ellipse">
            <a:avLst/>
          </a:prstGeom>
          <a:solidFill>
            <a:srgbClr val="0E4A5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394" y="1174090"/>
            <a:ext cx="395021" cy="39502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729984" y="960120"/>
            <a:ext cx="822960" cy="822960"/>
          </a:xfrm>
          <a:prstGeom prst="ellipse">
            <a:avLst/>
          </a:prstGeom>
          <a:solidFill>
            <a:srgbClr val="0E4A52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954" y="1174090"/>
            <a:ext cx="395021" cy="3950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148840"/>
            <a:ext cx="9994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el clima laboral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conversando, no encuestando</a:t>
            </a:r>
            <a:endParaRPr lang="en-US" sz="4000" dirty="0"/>
          </a:p>
        </p:txBody>
      </p:sp>
      <p:sp>
        <p:nvSpPr>
          <p:cNvPr id="9" name="Text 4"/>
          <p:cNvSpPr/>
          <p:nvPr/>
        </p:nvSpPr>
        <p:spPr>
          <a:xfrm>
            <a:off x="1097280" y="397764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multiagente con LangGraph · Entrevistador + Analista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097280" y="539496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Técnico · Ingeniero de Inteligencia Artificial · SETI S.A.S.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Felipe Giraldo Hincapié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las encuestas no miden la verdad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estándar para medir clima laboral es una encuesta extensa y rígida.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 siendo anónima, el miedo a represalias lleva a respuestas neutras o complacientes.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resultado: decisiones importantes de talento humano tomadas sobre datos distorsionados.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394960" cy="1371600"/>
          </a:xfrm>
          <a:prstGeom prst="rect">
            <a:avLst/>
          </a:prstGeom>
          <a:solidFill>
            <a:srgbClr val="EAF4F4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“Prefiero callar en algunas reuniones para evitar problemas.”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respuesta ilustrativa capturada por el sistema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371600"/>
            <a:ext cx="658368" cy="658368"/>
          </a:xfrm>
          <a:prstGeom prst="ellipse">
            <a:avLst/>
          </a:prstGeom>
          <a:solidFill>
            <a:srgbClr val="C056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3416" y="154277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3167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Miedo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60920" y="1700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consecuencias, aun con anonimato formal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21424" y="2121408"/>
            <a:ext cx="0" cy="731520"/>
          </a:xfrm>
          <a:prstGeom prst="line">
            <a:avLst/>
          </a:prstGeom>
          <a:noFill/>
          <a:ln w="22860">
            <a:solidFill>
              <a:srgbClr val="B9CFD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492240" y="297180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16" y="314297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9169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Silencio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360920" y="33009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neutras, evasivas o complacientes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21424" y="3721608"/>
            <a:ext cx="0" cy="731520"/>
          </a:xfrm>
          <a:prstGeom prst="line">
            <a:avLst/>
          </a:prstGeom>
          <a:noFill/>
          <a:ln w="22860">
            <a:solidFill>
              <a:srgbClr val="B9CFD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492240" y="4572000"/>
            <a:ext cx="658368" cy="658368"/>
          </a:xfrm>
          <a:prstGeom prst="ellipse">
            <a:avLst/>
          </a:prstGeom>
          <a:solidFill>
            <a:srgbClr val="0733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416" y="474317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60920" y="45171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pobres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360920" y="49011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indicador existe, pero no refleja la realidad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mismo rigor, otra experiencia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EAF4F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440680" cy="658368"/>
          </a:xfrm>
          <a:prstGeom prst="roundRect">
            <a:avLst>
              <a:gd name="adj" fmla="val 16667"/>
            </a:avLst>
          </a:prstGeom>
          <a:solidFill>
            <a:srgbClr val="6E828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 tradicional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042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7627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rígido: pregunta cerrada, escala fija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6440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1363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responde 'para salir del paso'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24528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0965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matiz y el porqué se pierden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84648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50566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Anonimato declarado, desconfianza intacta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199632" y="132588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EAF4F4"/>
          </a:solidFill>
          <a:ln/>
        </p:spPr>
      </p:sp>
      <p:sp>
        <p:nvSpPr>
          <p:cNvPr id="15" name="Shape 9"/>
          <p:cNvSpPr/>
          <p:nvPr/>
        </p:nvSpPr>
        <p:spPr>
          <a:xfrm>
            <a:off x="6199632" y="1325880"/>
            <a:ext cx="5440680" cy="658368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6" name="Text 10"/>
          <p:cNvSpPr/>
          <p:nvPr/>
        </p:nvSpPr>
        <p:spPr>
          <a:xfrm>
            <a:off x="6428232" y="132588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 conversacional con IA</a:t>
            </a:r>
            <a:endParaRPr lang="en-US" sz="1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30428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76872" y="217627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guion siempre: 16 preguntas · 8 dimensiones</a:t>
            </a:r>
            <a:endParaRPr lang="en-US" sz="14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264408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76872" y="31363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natural: la persona habla libremente</a:t>
            </a:r>
            <a:endParaRPr lang="en-US" sz="14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4224528"/>
            <a:ext cx="310896" cy="31089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76872" y="409651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se interpreta: puntaje, sentimiento y temas</a:t>
            </a:r>
            <a:endParaRPr lang="en-US" sz="14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5184648"/>
            <a:ext cx="310896" cy="31089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76872" y="505663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Seudónimo aleatorio: la identidad nunca se registra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dos agentes, un orquestador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79976" y="123444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07333A"/>
          </a:solidFill>
          <a:ln/>
        </p:spPr>
      </p:sp>
      <p:sp>
        <p:nvSpPr>
          <p:cNvPr id="4" name="Text 2"/>
          <p:cNvSpPr/>
          <p:nvPr/>
        </p:nvSpPr>
        <p:spPr>
          <a:xfrm>
            <a:off x="4379976" y="12344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
</a:t>
            </a:r>
            <a:pPr algn="ctr" indent="0" marL="0">
              <a:buNone/>
            </a:pPr>
            <a:r>
              <a:rPr lang="en-US" sz="1100" dirty="0">
                <a:solidFill>
                  <a:srgbClr val="A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padre LangGraph · valida y enruta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03580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646" y="317845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971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 · ENTREVISTADOR
</a:t>
            </a:r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→ escuchar (interrupt) →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→ consolidar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51192" y="28346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79792" y="303580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438" y="317845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65592" y="2971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 · ANALISTA
</a:t>
            </a:r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→ métricas (código) →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cualitativo (LLM) → informe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5394960"/>
            <a:ext cx="777240" cy="777240"/>
          </a:xfrm>
          <a:prstGeom prst="ellipse">
            <a:avLst/>
          </a:prstGeom>
          <a:solidFill>
            <a:srgbClr val="07333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559704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048" y="62179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17136" y="5257800"/>
            <a:ext cx="3154680" cy="914400"/>
          </a:xfrm>
          <a:prstGeom prst="roundRect">
            <a:avLst>
              <a:gd name="adj" fmla="val 10000"/>
            </a:avLst>
          </a:prstGeom>
          <a:solidFill>
            <a:srgbClr val="EAF4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4681728" y="544068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20" y="5578572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53218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entrevistas/*.json
</a:t>
            </a:r>
            <a:pPr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seudonimizados EMP-XXXX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11292840" y="5349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9261" y="551566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27080" y="6053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Informe.md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416552" y="2121408"/>
            <a:ext cx="-1463040" cy="685800"/>
          </a:xfrm>
          <a:prstGeom prst="line">
            <a:avLst/>
          </a:prstGeom>
          <a:noFill/>
          <a:ln w="2794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7799832" y="2121408"/>
            <a:ext cx="1463040" cy="685800"/>
          </a:xfrm>
          <a:prstGeom prst="line">
            <a:avLst/>
          </a:prstGeom>
          <a:noFill/>
          <a:ln w="2794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1463040" y="5358384"/>
            <a:ext cx="822960" cy="-640080"/>
          </a:xfrm>
          <a:prstGeom prst="line">
            <a:avLst/>
          </a:prstGeom>
          <a:noFill/>
          <a:ln w="27940">
            <a:solidFill>
              <a:srgbClr val="028090"/>
            </a:solidFill>
            <a:prstDash val="solid"/>
            <a:headEnd type="triangle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3566160" y="4709160"/>
            <a:ext cx="914400" cy="777240"/>
          </a:xfrm>
          <a:prstGeom prst="line">
            <a:avLst/>
          </a:prstGeom>
          <a:noFill/>
          <a:ln w="2794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7708392" y="5669280"/>
            <a:ext cx="822960" cy="-914400"/>
          </a:xfrm>
          <a:prstGeom prst="line">
            <a:avLst/>
          </a:prstGeom>
          <a:noFill/>
          <a:ln w="2794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424160" y="4709160"/>
            <a:ext cx="868680" cy="777240"/>
          </a:xfrm>
          <a:prstGeom prst="line">
            <a:avLst/>
          </a:prstGeom>
          <a:noFill/>
          <a:ln w="2794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9" name="Text 2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asíncrona por artefactos: N entrevistas (días distintos) → 1 análisis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1 · Entrevistador con human-in-the-loop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26" y="1578986"/>
            <a:ext cx="298460" cy="298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guion vive en el código, no en el prompt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17282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preguntas en estado del grafo: cobertura garantizada, el LLM solo reformula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" y="2651760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26" y="2813426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interrupt( ) + checkpointer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296265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conversación se pausa y reanuda sin perder estado, turno a turno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4360" y="3886200"/>
            <a:ext cx="621792" cy="621792"/>
          </a:xfrm>
          <a:prstGeom prst="ellipse">
            <a:avLst/>
          </a:prstGeom>
          <a:solidFill>
            <a:srgbClr val="0733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26" y="4047866"/>
            <a:ext cx="298460" cy="298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 en línea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17320" y="41970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→ puntaje 1–5, sentimiento y temas, con la evidencia textual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4360" y="5120640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26" y="5282306"/>
            <a:ext cx="298460" cy="298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Repregunta y salida digna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417320" y="543153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reintento amable ante evasivas; 'salir' consolida un registro parcial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949440" y="1417320"/>
            <a:ext cx="4709160" cy="4846320"/>
          </a:xfrm>
          <a:prstGeom prst="roundRect">
            <a:avLst>
              <a:gd name="adj" fmla="val 2330"/>
            </a:avLst>
          </a:prstGeom>
          <a:solidFill>
            <a:srgbClr val="07333A"/>
          </a:solidFill>
          <a:ln/>
        </p:spPr>
      </p:sp>
      <p:sp>
        <p:nvSpPr>
          <p:cNvPr id="20" name="Text 14"/>
          <p:cNvSpPr/>
          <p:nvPr/>
        </p:nvSpPr>
        <p:spPr>
          <a:xfrm>
            <a:off x="7132320" y="1645920"/>
            <a:ext cx="3977640" cy="1051560"/>
          </a:xfrm>
          <a:prstGeom prst="rect">
            <a:avLst/>
          </a:prstGeom>
          <a:solidFill>
            <a:srgbClr val="0B3E45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[11/16]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Hablemos de tu día a día: ¿tu carga de trabajo te deja desconectarte y descansar?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498080" y="2834640"/>
            <a:ext cx="3977640" cy="1051560"/>
          </a:xfrm>
          <a:prstGeom prst="rect">
            <a:avLst/>
          </a:prstGeom>
          <a:solidFill>
            <a:srgbClr val="0E4A52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Depende… a veces me toca de noche.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7132320" y="3840480"/>
            <a:ext cx="3977640" cy="1051560"/>
          </a:xfrm>
          <a:prstGeom prst="rect">
            <a:avLst/>
          </a:prstGeom>
          <a:solidFill>
            <a:srgbClr val="0B3E45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contármelo. ¿Me das un ejemplo de una semana típica?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132320" y="51206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repregunta automática ante respuesta breve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2 · Analista: métricas auditables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26" y="1716146"/>
            <a:ext cx="298460" cy="298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08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en código determinista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7320" y="1920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promedios, distribución, alertas por umbral: reproducibles y auditables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" y="3017520"/>
            <a:ext cx="621792" cy="62179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26" y="3179186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9718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solo para lo cualitativo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17320" y="33832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recurrentes, fortalezas, riesgos y recomendaciones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4360" y="4480560"/>
            <a:ext cx="621792" cy="621792"/>
          </a:xfrm>
          <a:prstGeom prst="ellipse">
            <a:avLst/>
          </a:prstGeom>
          <a:solidFill>
            <a:srgbClr val="C0564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26" y="4642226"/>
            <a:ext cx="298460" cy="298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4348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accionables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17320" y="48463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bajo 3.0 e intención de permanencia como proxy de rotación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126480" y="137160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diseño y lo que sacrifiqué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EAF4F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orquestación explícita; el grafo declarado ES el diagrama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 artefactos JSON: desacopla a los agentes en el tiempo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código, LLM en el juicio cualitativo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por diseño: seudónimo EMP-XXXX, informe solo agregado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propia: telemetría por llamada al LLM + dashboard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 (LLM simulado): pruebas sin API y plan B de demo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99632" y="1371600"/>
            <a:ext cx="5440680" cy="4892040"/>
          </a:xfrm>
          <a:prstGeom prst="roundRect">
            <a:avLst>
              <a:gd name="adj" fmla="val 2243"/>
            </a:avLst>
          </a:prstGeom>
          <a:solidFill>
            <a:srgbClr val="EAF4F4"/>
          </a:solidFill>
          <a:ln/>
        </p:spPr>
      </p:sp>
      <p:sp>
        <p:nvSpPr>
          <p:cNvPr id="7" name="Text 5"/>
          <p:cNvSpPr/>
          <p:nvPr/>
        </p:nvSpPr>
        <p:spPr>
          <a:xfrm>
            <a:off x="6473952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5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asumidos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73952" y="214884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mínima sin autenticación: sirve a la demo, no a producción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 lugar de BD: transparente aquí; en producción, BD cifrada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sola repregunta: profundidad limitada, sin interrogatorio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por turno: trazable, pero suma latencia y costo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Anonimato práctico, no absoluto: en equipos chicos, k-anonimato pendiente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Diseñado para fallar con gracia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AF4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189427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373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falla al interpretar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neutral con nota y la entrevista continúa; el informe sale aun sin análisis cualitativo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9632" y="14630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AF4F4"/>
          </a:solidFill>
          <a:ln/>
        </p:spPr>
      </p:sp>
      <p:sp>
        <p:nvSpPr>
          <p:cNvPr id="9" name="Shape 6"/>
          <p:cNvSpPr/>
          <p:nvPr/>
        </p:nvSpPr>
        <p:spPr>
          <a:xfrm>
            <a:off x="6473952" y="173736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0863" y="189427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96912" y="17373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persona abandona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519672" y="25146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'salir' o Ctrl+C consolidan un registro parcial marcado como incompleto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AF4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51960"/>
            <a:ext cx="603504" cy="603504"/>
          </a:xfrm>
          <a:prstGeom prst="ellipse">
            <a:avLst/>
          </a:prstGeom>
          <a:solidFill>
            <a:srgbClr val="07333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440887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42519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 corrupto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68680" y="50292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Analista lo omite con aviso y procesa el resto; directorio vacío tiene rama propia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9632" y="39776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AF4F4"/>
          </a:solidFill>
          <a:ln/>
        </p:spPr>
      </p:sp>
      <p:sp>
        <p:nvSpPr>
          <p:cNvPr id="19" name="Shape 14"/>
          <p:cNvSpPr/>
          <p:nvPr/>
        </p:nvSpPr>
        <p:spPr>
          <a:xfrm>
            <a:off x="6473952" y="4251960"/>
            <a:ext cx="603504" cy="603504"/>
          </a:xfrm>
          <a:prstGeom prst="ellipse">
            <a:avLst/>
          </a:prstGeom>
          <a:solidFill>
            <a:srgbClr val="C0564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863" y="4408871"/>
            <a:ext cx="289682" cy="2896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96912" y="42519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API o sin internet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6519672" y="50292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USAR_LLM_FALSO=1 ejecuta todo el flujo con LLM simulado: plan B de la demo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vivo · 10 minutos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54480" y="14447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6537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en el chat web: reformulación natural del guion, una respuesta evasiva para ver la repregunta, cierre con 'salir'.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944368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9443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9260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artefacto entre agentes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34670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el JSON: seudónimo EMP-XXXX, puntajes 1–5, sentimiento, temas y resumen. Ninguna identidad.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425696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4256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44074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+ Agente Analista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82803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y abandono, clima por dimensión, observabilidad de los agentes (llamadas LLM, latencia, errores) e informe generado en un clic.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8978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733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897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declarado: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internet, todo corre con USAR_LLM_FALSO=1; y el CLI (python main.py) es el segundo respaldo.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9864" y="1051560"/>
            <a:ext cx="658368" cy="658368"/>
          </a:xfrm>
          <a:prstGeom prst="ellipse">
            <a:avLst/>
          </a:prstGeom>
          <a:solidFill>
            <a:srgbClr val="0E4A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1040" y="122273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103120"/>
            <a:ext cx="96286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sistema no reemplaza a Talento Humano: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entrega, por primera vez,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en los que puede confiar.”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80160" y="4709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Gemini · Python  |  repositorio con README, pruebas offline y bitácora de uso de IA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80160" y="557784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pasemos a la demo y a sus preguntas.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2026-07-18T12:18:36Z</dcterms:created>
  <dcterms:modified xsi:type="dcterms:W3CDTF">2026-07-18T12:18:36Z</dcterms:modified>
</cp:coreProperties>
</file>